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.jpg" ContentType="image/jpg"/>
  <Override PartName="/ppt/media/image5.jpg" ContentType="image/jpg"/>
  <Override PartName="/ppt/media/image6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6A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917"/>
    <p:restoredTop sz="94610"/>
  </p:normalViewPr>
  <p:slideViewPr>
    <p:cSldViewPr snapToGrid="0" snapToObjects="1">
      <p:cViewPr>
        <p:scale>
          <a:sx n="106" d="100"/>
          <a:sy n="106" d="100"/>
        </p:scale>
        <p:origin x="160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Seguidores</c:v>
                </c:pt>
              </c:strCache>
            </c:strRef>
          </c:tx>
          <c:spPr>
            <a:solidFill>
              <a:srgbClr val="1F6B67"/>
            </a:solidFill>
          </c:spPr>
          <c:dPt>
            <c:idx val="2"/>
            <c:spPr>
              <a:solidFill>
                <a:srgbClr val="C42B1C"/>
              </a:solidFill>
            </c:spPr>
          </c:dPt>
          <c:dPt>
            <c:idx val="3"/>
            <c:spPr>
              <a:solidFill>
                <a:srgbClr val="C42B1C"/>
              </a:solidFill>
            </c:spPr>
          </c:dPt>
          <c:cat>
            <c:strRef>
              <c:f>Sheet1!$A$2:$A$8</c:f>
              <c:strCache>
                <c:ptCount val="7"/>
                <c:pt idx="0">
                  <c:v>13–17</c:v>
                </c:pt>
                <c:pt idx="1">
                  <c:v>18–24</c:v>
                </c:pt>
                <c:pt idx="2">
                  <c:v>25–34</c:v>
                </c:pt>
                <c:pt idx="3">
                  <c:v>35–44</c:v>
                </c:pt>
                <c:pt idx="4">
                  <c:v>45–54</c:v>
                </c:pt>
                <c:pt idx="5">
                  <c:v>55–64</c:v>
                </c:pt>
                <c:pt idx="6">
                  <c:v>65+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1.2</c:v>
                </c:pt>
                <c:pt idx="1">
                  <c:v>13.8</c:v>
                </c:pt>
                <c:pt idx="2">
                  <c:v>49.6</c:v>
                </c:pt>
                <c:pt idx="3">
                  <c:v>27.8</c:v>
                </c:pt>
                <c:pt idx="4">
                  <c:v>5.8</c:v>
                </c:pt>
                <c:pt idx="5">
                  <c:v>0.9</c:v>
                </c:pt>
                <c:pt idx="6">
                  <c:v>0.8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 b="1">
                  <a:solidFill>
                    <a:srgbClr val="171411"/>
                  </a:solidFill>
                  <a:latin typeface="Montserra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FC6B5"/>
            </a:solidFill>
          </a:ln>
        </c:spPr>
        <c:txPr>
          <a:bodyPr/>
          <a:lstStyle/>
          <a:p>
            <a:pPr>
              <a:defRPr sz="1000">
                <a:solidFill>
                  <a:srgbClr val="4A443D"/>
                </a:solidFill>
                <a:latin typeface="Montserra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8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33839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X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Abrir con la historia, no con el dinero. 30 segundos: qué pasó en 2022, qué es Muralitos Puesteros y quién soy. Mencionar que ellos llegaron por los videos: "gracias por buscarme, les traigo una propuesta concreta".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MX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Números reales de Instagram (cuenta @viccio____). El 1.9M es el pico; lo importante es el piso: ningún reel ha bajado de 360 mil. La comunidad nació del proyecto: ~1,300 seguidores en junio, 30,654 hoy.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es la lámina clave: no les estoy pidiendo que se asocien a algo nuevo, ya están asociados. Mostrar la encuesta y los comentarios. Cerrar con: "la comunidad ya los juntó, lo único que falta es hacerlo en serio".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Audiencia adulta, mexicana y joven-adulta: el consumidor de calle. 77% de los seguidores tiene entre 25 y 44 años. Si preguntan por género: ~80% hombres (detalle en anexo); es el comprador de puesto.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Aquí se conecta con su identidad de cooperativa. No hablar de dinero todavía. El punto 4 es sutil: su audiencia valora el trabajo real hecho a mano.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lo hago yo solo: ~38 horas por muralito entre calle, diseño y edición. El detalle completo de cada fase y la lista de materiales están en el anexo.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Presentarlo como valor, no como "lo que me cuesta". Si preguntan por el margen: el rubro de producción y diseño es mi trabajo, igual que el sueldo de cualquier profesional. No negociar línea por línea.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Este es el concepto. Pascual no compra un anuncio: hace posible que el proyecto siga y que el gesto de compartir crezca.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Recalcar que el formato ganador es el reel: por eso el reel colaborativo es el entregable principal.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Esta lámina tranquiliza a su área legal. Mencionar que ya lo platicamos: no hay logo en el rótulo.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Presentar de izquierda a derecha y detenerse en el de 5. Por $28 mil más que el de 3, obtienen 2 muralitos extra, el reel resumen, exclusividad y el doble de licencia. Si piden descuento: se quitan beneficios, no se baja el precio por muralito.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Para referencia: pautar en redes suele costar varias decenas de pesos por cada mil impresiones, sin mural ni historia. No prometer vistas; prometer entregables y reportar métricas.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 eligen 3 muralitos: ~6 semanas. Si eligen 10: ~20 semanas, o se puede acelerar sumando artistas.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Todo es negociable menos: sin logos en el puesto y la autoría de la obra.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Cerrar preguntando qué necesitan para llevarlo a la cooperativa. Ofrecer mandar el PDF y el resumen de una página hoy mismo.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Relationship Id="rId6" Type="http://schemas.openxmlformats.org/officeDocument/2006/relationships/image" Target="../media/image2.png"/><Relationship Id="rId7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1.png"/><Relationship Id="rId7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uralito en puesto de tacos Don Pedrito, Roma Norte"/>
          <p:cNvPicPr>
            <a:picLocks noChangeAspect="1"/>
          </p:cNvPicPr>
          <p:nvPr/>
        </p:nvPicPr>
        <p:blipFill>
          <a:blip r:embed="rId3"/>
          <a:srcRect t="4843" r="4700" b="4985"/>
          <a:stretch>
            <a:fillRect/>
          </a:stretch>
        </p:blipFill>
        <p:spPr>
          <a:xfrm>
            <a:off x="8183880" y="0"/>
            <a:ext cx="4064203" cy="65060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80983" y="6506080"/>
            <a:ext cx="3410712" cy="310896"/>
          </a:xfrm>
          <a:prstGeom prst="rect">
            <a:avLst/>
          </a:prstGeom>
          <a:noFill/>
          <a:ln/>
        </p:spPr>
        <p:txBody>
          <a:bodyPr wrap="square" lIns="0" tIns="101600" rIns="101600" bIns="0" rtlCol="0" anchor="ctr"/>
          <a:lstStyle/>
          <a:p>
            <a:r>
              <a:rPr lang="es-ES_tradnl" sz="900" b="1" dirty="0">
                <a:latin typeface="Montserrat" pitchFamily="34" charset="0"/>
                <a:ea typeface="Montserrat" pitchFamily="34" charset="-122"/>
                <a:cs typeface="Montserrat" pitchFamily="34" charset="-120"/>
              </a:rPr>
              <a:t>Tacos Don Pedrito · Alcaldía Cuauhtémoc · jul 2026</a:t>
            </a:r>
            <a:endParaRPr lang="es-ES_tradnl" sz="900" dirty="0"/>
          </a:p>
        </p:txBody>
      </p:sp>
      <p:pic>
        <p:nvPicPr>
          <p:cNvPr id="4" name="Image 1" descr="Logo Vicci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9132" y="388997"/>
            <a:ext cx="654195" cy="571123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297041" y="457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200" b="1" kern="0" spc="100" dirty="0">
                <a:solidFill>
                  <a:srgbClr val="17141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VICCIO — VÍCTOR PALACIO</a:t>
            </a:r>
            <a:endParaRPr lang="es-ES_tradnl" sz="1200" dirty="0"/>
          </a:p>
        </p:txBody>
      </p:sp>
      <p:sp>
        <p:nvSpPr>
          <p:cNvPr id="6" name="Text 2"/>
          <p:cNvSpPr txBox="1"/>
          <p:nvPr/>
        </p:nvSpPr>
        <p:spPr>
          <a:xfrm>
            <a:off x="1297041" y="629748"/>
            <a:ext cx="3657600" cy="327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Artista urbano y muralista · Ciudad de México</a:t>
            </a:r>
            <a:b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</a:br>
            <a:r>
              <a:rPr lang="es-ES_tradnl" sz="1000" dirty="0">
                <a:solidFill>
                  <a:srgbClr val="4A443D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Propuesta para Cooperativa Pascual · Oct 2026</a:t>
            </a:r>
            <a:endParaRPr lang="es-ES_tradnl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1188720"/>
            <a:ext cx="7223760" cy="1783080"/>
          </a:xfrm>
          <a:prstGeom prst="rect">
            <a:avLst/>
          </a:prstGeom>
          <a:noFill/>
          <a:ln/>
          <a:effectLst>
            <a:outerShdw blurRad="127" dist="44450" dir="2700000" algn="bl" rotWithShape="0">
              <a:srgbClr val="1F6B67">
                <a:alpha val="100000"/>
              </a:srgbClr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85000"/>
              </a:lnSpc>
              <a:buNone/>
            </a:pPr>
            <a:r>
              <a:rPr lang="es-ES_tradnl" sz="70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MURALITOS</a:t>
            </a:r>
            <a:endParaRPr lang="es-ES_tradnl" sz="7000" dirty="0"/>
          </a:p>
          <a:p>
            <a:pPr marL="0" indent="0">
              <a:lnSpc>
                <a:spcPct val="85000"/>
              </a:lnSpc>
              <a:buNone/>
            </a:pPr>
            <a:r>
              <a:rPr lang="es-ES_tradnl" sz="70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PUESTEROS</a:t>
            </a:r>
            <a:endParaRPr lang="es-ES_tradnl" sz="70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062660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s-ES_tradnl" sz="120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Ilustración contemporánea y rótulo tradicional sobre puestos metálicos de comida callejera en Alcaldía Cuauhtémoc - Ciudad de México.</a:t>
            </a:r>
            <a:endParaRPr lang="es-ES_tradnl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01 · EL CONTEXTO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1" name="Text 7"/>
          <p:cNvSpPr txBox="1"/>
          <p:nvPr/>
        </p:nvSpPr>
        <p:spPr>
          <a:xfrm>
            <a:off x="548640" y="3985514"/>
            <a:ext cx="2176272" cy="22998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Durante décadas, los rótulos pintados a mano fueron la identidad visual de los puestos callejeros: humor, oficio y pertenencia al barrio. En 2022 la Alcaldía Cuauhtémoc homogeneizó </a:t>
            </a: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más de 1,490 puestos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pintándolos de blanco. Un borrón cultural de identidad gráfica que, a los ojos de un artista, representa una oportunidad y cientos de lienzos en blanco situados en las calles de la CDMX.</a:t>
            </a:r>
            <a:endParaRPr lang="es-ES_tradnl" sz="900" dirty="0"/>
          </a:p>
        </p:txBody>
      </p:sp>
      <p:sp>
        <p:nvSpPr>
          <p:cNvPr id="12" name="Text 8"/>
          <p:cNvSpPr txBox="1"/>
          <p:nvPr/>
        </p:nvSpPr>
        <p:spPr>
          <a:xfrm>
            <a:off x="2944368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02 · EL PROYECTO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3" name="Text 9"/>
          <p:cNvSpPr txBox="1"/>
          <p:nvPr/>
        </p:nvSpPr>
        <p:spPr>
          <a:xfrm>
            <a:off x="2944368" y="3985514"/>
            <a:ext cx="2176272" cy="2299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Una serie de mini murales autogestionados en la parte trasera de esos puestos en blanco, pintados con permiso y en diálogo con cada puestero: una ilustración junto a un rótulo con el nombre y giro del puesto.</a:t>
            </a:r>
          </a:p>
          <a:p>
            <a:pPr marL="0" indent="0">
              <a:lnSpc>
                <a:spcPct val="120000"/>
              </a:lnSpc>
              <a:buNone/>
            </a:pPr>
            <a:endParaRPr lang="es-ES_tradnl" sz="900" dirty="0">
              <a:solidFill>
                <a:srgbClr val="171411"/>
              </a:solidFill>
              <a:latin typeface="Montserrat Medium" pitchFamily="34" charset="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</a:rPr>
              <a:t>Al ser un proyecto de índole cultural, al puestero no le cuesta: se ofrece el </a:t>
            </a: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</a:rPr>
              <a:t>trueque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</a:rPr>
              <a:t> de una pinta por un producto de su puesto.</a:t>
            </a:r>
            <a:endParaRPr lang="es-ES_tradnl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5340096" y="3722770"/>
            <a:ext cx="21762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000" b="1" kern="0" spc="200" dirty="0">
                <a:solidFill>
                  <a:srgbClr val="1F6B67"/>
                </a:solidFill>
                <a:latin typeface="Montserrat ExtraBold" panose="00000900000000000000" pitchFamily="2" charset="77"/>
                <a:ea typeface="Montserrat" pitchFamily="34" charset="-122"/>
                <a:cs typeface="Montserrat" pitchFamily="34" charset="-120"/>
              </a:rPr>
              <a:t>03 · QUIÉN LO HACE</a:t>
            </a:r>
            <a:endParaRPr lang="es-ES_tradnl" sz="1000" b="1" dirty="0">
              <a:latin typeface="Montserrat ExtraBold" panose="00000900000000000000" pitchFamily="2" charset="77"/>
            </a:endParaRPr>
          </a:p>
        </p:txBody>
      </p:sp>
      <p:sp>
        <p:nvSpPr>
          <p:cNvPr id="15" name="Text 11"/>
          <p:cNvSpPr txBox="1"/>
          <p:nvPr/>
        </p:nvSpPr>
        <p:spPr>
          <a:xfrm>
            <a:off x="5340096" y="3985514"/>
            <a:ext cx="2176272" cy="2520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ct val="120000"/>
              </a:lnSpc>
            </a:pPr>
            <a:r>
              <a:rPr lang="es-ES_tradnl" sz="90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VICCIO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: artista de intervención urbana. Su trabajo une muralismo e ilustración y busca que cada pieza dialogue con la calle y con quien la habita.</a:t>
            </a:r>
          </a:p>
          <a:p>
            <a:pPr>
              <a:lnSpc>
                <a:spcPct val="120000"/>
              </a:lnSpc>
            </a:pPr>
            <a:endParaRPr lang="es-ES_tradnl" sz="900" dirty="0">
              <a:solidFill>
                <a:srgbClr val="171411"/>
              </a:solidFill>
              <a:latin typeface="Montserrat Medium" pitchFamily="34" charset="0"/>
              <a:ea typeface="Montserrat Medium" pitchFamily="34" charset="-122"/>
              <a:cs typeface="Montserrat Medium" pitchFamily="34" charset="-120"/>
            </a:endParaRPr>
          </a:p>
          <a:p>
            <a:pPr>
              <a:lnSpc>
                <a:spcPct val="120000"/>
              </a:lnSpc>
            </a:pP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Actualmente su enfoque está en el proyecto </a:t>
            </a:r>
            <a:r>
              <a:rPr lang="es-ES_tradnl" sz="900" dirty="0" err="1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Muralitos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Puesteros, respaldado por una trayectoria de años en el muralismo con participación en: Meeting </a:t>
            </a:r>
            <a:r>
              <a:rPr lang="es-ES_tradnl" sz="900" dirty="0" err="1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of</a:t>
            </a:r>
            <a:r>
              <a:rPr lang="es-ES_tradnl" sz="90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 Styles México y Festival de Arte Urbano Renace; murales comunitarios junto la Secretaría de Cultura y trabajos de comisión privada.</a:t>
            </a:r>
            <a:endParaRPr lang="es-ES_tradnl" sz="9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5A6BD087-5DF5-560A-D7C8-6CCFBBE3BAF3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6259081" y="957580"/>
            <a:ext cx="1768289" cy="1987976"/>
          </a:xfrm>
          <a:prstGeom prst="rect">
            <a:avLst/>
          </a:prstGeom>
          <a:effectLst>
            <a:outerShdw dist="39633" dir="1680000" sx="99716" sy="99716" algn="ctr" rotWithShape="0">
              <a:srgbClr val="1E6A67"/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48640" y="359950"/>
            <a:ext cx="5120640" cy="1005840"/>
          </a:xfrm>
          <a:prstGeom prst="rect">
            <a:avLst/>
          </a:prstGeom>
          <a:noFill/>
          <a:ln/>
          <a:effectLst>
            <a:outerShdw blurRad="127" dist="25400" dir="2700000" algn="bl" rotWithShape="0">
              <a:srgbClr val="1F6B67">
                <a:alpha val="100000"/>
              </a:srgbClr>
            </a:outerShdw>
          </a:effectLst>
        </p:spPr>
        <p:txBody>
          <a:bodyPr wrap="square" lIns="0" tIns="0" rIns="0" bIns="0" rtlCol="0" anchor="t"/>
          <a:lstStyle/>
          <a:p>
            <a:pPr marL="0" indent="0">
              <a:lnSpc>
                <a:spcPct val="92000"/>
              </a:lnSpc>
              <a:buNone/>
            </a:pPr>
            <a:r>
              <a:rPr lang="es-ES_tradnl" sz="3400" dirty="0">
                <a:solidFill>
                  <a:srgbClr val="C42B1C"/>
                </a:solidFill>
                <a:latin typeface="Montserrat Black" pitchFamily="34" charset="0"/>
                <a:ea typeface="Montserrat Black" pitchFamily="34" charset="-122"/>
                <a:cs typeface="Montserrat Black" pitchFamily="34" charset="-120"/>
              </a:rPr>
              <a:t>3 MESES, 4 MURALITOS</a:t>
            </a:r>
            <a:endParaRPr lang="es-ES_tradnl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48134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s-ES_tradnl" sz="1250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Muralitos Puesteros arrancó a mediados de junio de 2026. Cada pinta se documenta y se cuenta en reels, y en tres meses el proyecto construyó una comunidad desde cero, con alcance orgánico.</a:t>
            </a:r>
            <a:endParaRPr lang="es-ES_tradnl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0175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s-ES_tradnl" sz="1050" b="1" dirty="0">
                <a:solidFill>
                  <a:srgbClr val="171411"/>
                </a:solidFill>
                <a:latin typeface="Montserrat Medium" pitchFamily="34" charset="0"/>
                <a:ea typeface="Montserrat Medium" pitchFamily="34" charset="-122"/>
                <a:cs typeface="Montserrat Medium" pitchFamily="34" charset="-120"/>
              </a:rPr>
              <a:t>Los 4 reels del proyecto</a:t>
            </a:r>
            <a:endParaRPr lang="es-ES_tradnl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6135845"/>
            <a:ext cx="5120640" cy="0"/>
          </a:xfrm>
          <a:prstGeom prst="line">
            <a:avLst/>
          </a:prstGeom>
          <a:noFill/>
          <a:ln w="25400">
            <a:solidFill>
              <a:srgbClr val="171411"/>
            </a:solidFill>
            <a:prstDash val="solid"/>
          </a:ln>
        </p:spPr>
        <p:txBody>
          <a:bodyPr/>
          <a:lstStyle/>
          <a:p>
            <a:endParaRPr lang="es-ES_tradnl" dirty="0"/>
          </a:p>
        </p:txBody>
      </p:sp>
      <p:pic>
        <p:nvPicPr>
          <p:cNvPr id="19" name="Image 0" descr="Logo Vicc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143000" y="63733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1050" dirty="0" err="1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viqpgz@gmail.com</a:t>
            </a:r>
            <a:r>
              <a:rPr lang="es-ES_tradnl" sz="105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   ·   55 6659 7811   ·   @</a:t>
            </a:r>
            <a:r>
              <a:rPr lang="es-ES_tradnl" sz="1050" dirty="0" err="1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viccio</a:t>
            </a:r>
            <a:r>
              <a:rPr lang="es-ES_tradnl" sz="1050" dirty="0">
                <a:solidFill>
                  <a:srgbClr val="171411"/>
                </a:solidFill>
                <a:latin typeface="Montserrat SemiBold" pitchFamily="34" charset="0"/>
                <a:ea typeface="Montserrat SemiBold" pitchFamily="34" charset="-122"/>
                <a:cs typeface="Montserrat SemiBold" pitchFamily="34" charset="-120"/>
              </a:rPr>
              <a:t>_____</a:t>
            </a:r>
            <a:endParaRPr lang="es-ES_tradnl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6172200" y="50292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850" b="1" kern="0" spc="200" dirty="0">
                <a:solidFill>
                  <a:srgbClr val="1F6B6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RESULTADOS · JUNIO – SEPTIEMBRE 2026</a:t>
            </a:r>
            <a:endParaRPr lang="es-ES_tradnl" sz="850" dirty="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A747F675-F614-8EEC-1AA7-729235E4456D}"/>
              </a:ext>
            </a:extLst>
          </p:cNvPr>
          <p:cNvGrpSpPr/>
          <p:nvPr/>
        </p:nvGrpSpPr>
        <p:grpSpPr>
          <a:xfrm>
            <a:off x="548640" y="3429000"/>
            <a:ext cx="5120640" cy="1612456"/>
            <a:chOff x="1761502" y="4267597"/>
            <a:chExt cx="4300970" cy="1355328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241ADDAC-643D-EB72-B0B1-B0A4129E905D}"/>
                </a:ext>
              </a:extLst>
            </p:cNvPr>
            <p:cNvGrpSpPr/>
            <p:nvPr/>
          </p:nvGrpSpPr>
          <p:grpSpPr>
            <a:xfrm>
              <a:off x="1783727" y="4267597"/>
              <a:ext cx="4278745" cy="1355328"/>
              <a:chOff x="1783727" y="4267597"/>
              <a:chExt cx="4278745" cy="1355328"/>
            </a:xfrm>
          </p:grpSpPr>
          <p:pic>
            <p:nvPicPr>
              <p:cNvPr id="38" name="Picture 37">
                <a:extLst>
                  <a:ext uri="{FF2B5EF4-FFF2-40B4-BE49-F238E27FC236}">
                    <a16:creationId xmlns:a16="http://schemas.microsoft.com/office/drawing/2014/main" id="{85E93BD9-63D0-3474-9580-C83F1D118D4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3609" t="43400" r="33470" b="37180"/>
              <a:stretch>
                <a:fillRect/>
              </a:stretch>
            </p:blipFill>
            <p:spPr>
              <a:xfrm>
                <a:off x="1783727" y="4267607"/>
                <a:ext cx="1016000" cy="1331836"/>
              </a:xfrm>
              <a:prstGeom prst="rect">
                <a:avLst/>
              </a:prstGeom>
            </p:spPr>
          </p:pic>
          <p:pic>
            <p:nvPicPr>
              <p:cNvPr id="37" name="Picture 36">
                <a:extLst>
                  <a:ext uri="{FF2B5EF4-FFF2-40B4-BE49-F238E27FC236}">
                    <a16:creationId xmlns:a16="http://schemas.microsoft.com/office/drawing/2014/main" id="{8D864952-0B04-0BB7-1854-8C558F9697C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4092" t="23445" r="33599" b="57333"/>
              <a:stretch>
                <a:fillRect/>
              </a:stretch>
            </p:blipFill>
            <p:spPr>
              <a:xfrm>
                <a:off x="5046471" y="4267597"/>
                <a:ext cx="1016001" cy="1331825"/>
              </a:xfrm>
              <a:prstGeom prst="rect">
                <a:avLst/>
              </a:prstGeom>
            </p:spPr>
          </p:pic>
          <p:pic>
            <p:nvPicPr>
              <p:cNvPr id="39" name="Picture 38">
                <a:extLst>
                  <a:ext uri="{FF2B5EF4-FFF2-40B4-BE49-F238E27FC236}">
                    <a16:creationId xmlns:a16="http://schemas.microsoft.com/office/drawing/2014/main" id="{E595A965-6549-5F3A-F106-36AA430EF6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28" t="63178" r="67050" b="17401"/>
              <a:stretch>
                <a:fillRect/>
              </a:stretch>
            </p:blipFill>
            <p:spPr>
              <a:xfrm>
                <a:off x="3962031" y="4267606"/>
                <a:ext cx="1016000" cy="1331845"/>
              </a:xfrm>
              <a:prstGeom prst="rect">
                <a:avLst/>
              </a:prstGeom>
            </p:spPr>
          </p:pic>
          <p:pic>
            <p:nvPicPr>
              <p:cNvPr id="40" name="Picture 39">
                <a:extLst>
                  <a:ext uri="{FF2B5EF4-FFF2-40B4-BE49-F238E27FC236}">
                    <a16:creationId xmlns:a16="http://schemas.microsoft.com/office/drawing/2014/main" id="{84F67298-498C-6A67-3865-5A336C173FE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33938" t="63327" r="33907" b="16761"/>
              <a:stretch>
                <a:fillRect/>
              </a:stretch>
            </p:blipFill>
            <p:spPr>
              <a:xfrm>
                <a:off x="2872879" y="4267606"/>
                <a:ext cx="1016000" cy="1331837"/>
              </a:xfrm>
              <a:prstGeom prst="rect">
                <a:avLst/>
              </a:prstGeom>
            </p:spPr>
          </p:pic>
          <p:sp>
            <p:nvSpPr>
              <p:cNvPr id="42" name="Rounded Rectangle 41">
                <a:extLst>
                  <a:ext uri="{FF2B5EF4-FFF2-40B4-BE49-F238E27FC236}">
                    <a16:creationId xmlns:a16="http://schemas.microsoft.com/office/drawing/2014/main" id="{914AE9B9-0911-5FF9-E150-28654F884174}"/>
                  </a:ext>
                </a:extLst>
              </p:cNvPr>
              <p:cNvSpPr/>
              <p:nvPr/>
            </p:nvSpPr>
            <p:spPr>
              <a:xfrm>
                <a:off x="2850527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  <p:sp>
            <p:nvSpPr>
              <p:cNvPr id="43" name="Rounded Rectangle 42">
                <a:extLst>
                  <a:ext uri="{FF2B5EF4-FFF2-40B4-BE49-F238E27FC236}">
                    <a16:creationId xmlns:a16="http://schemas.microsoft.com/office/drawing/2014/main" id="{27588E7F-A4F6-0F48-08CD-65429CAE1F4C}"/>
                  </a:ext>
                </a:extLst>
              </p:cNvPr>
              <p:cNvSpPr/>
              <p:nvPr/>
            </p:nvSpPr>
            <p:spPr>
              <a:xfrm>
                <a:off x="3939552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  <p:sp>
            <p:nvSpPr>
              <p:cNvPr id="44" name="Rounded Rectangle 43">
                <a:extLst>
                  <a:ext uri="{FF2B5EF4-FFF2-40B4-BE49-F238E27FC236}">
                    <a16:creationId xmlns:a16="http://schemas.microsoft.com/office/drawing/2014/main" id="{D45B76E8-0F07-26E2-EB70-E332D9720BAD}"/>
                  </a:ext>
                </a:extLst>
              </p:cNvPr>
              <p:cNvSpPr/>
              <p:nvPr/>
            </p:nvSpPr>
            <p:spPr>
              <a:xfrm>
                <a:off x="5028577" y="5446572"/>
                <a:ext cx="603873" cy="176353"/>
              </a:xfrm>
              <a:prstGeom prst="roundRect">
                <a:avLst/>
              </a:prstGeom>
              <a:noFill/>
              <a:ln>
                <a:solidFill>
                  <a:srgbClr val="C000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MX"/>
              </a:p>
            </p:txBody>
          </p:sp>
        </p:grp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F54E0992-C551-D131-3E6A-08A8CDE714C6}"/>
                </a:ext>
              </a:extLst>
            </p:cNvPr>
            <p:cNvSpPr/>
            <p:nvPr/>
          </p:nvSpPr>
          <p:spPr>
            <a:xfrm>
              <a:off x="1761502" y="5446572"/>
              <a:ext cx="603873" cy="1763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X"/>
            </a:p>
          </p:txBody>
        </p:sp>
      </p:grpSp>
      <p:sp>
        <p:nvSpPr>
          <p:cNvPr id="48" name="Rounded Rectangle 47"/>
          <p:cNvSpPr/>
          <p:nvPr/>
        </p:nvSpPr>
        <p:spPr>
          <a:xfrm>
            <a:off x="6172200" y="96012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12801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3.4M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21945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REPRODUCCIONES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46520" y="24963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4 reels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006840" y="96012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281160" y="128016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1M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1160" y="219456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PERSONAS ALCANZADAS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81160" y="249631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últimos 90 días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172200" y="333756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46520" y="36576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×23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46520" y="4572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COMUNIDAD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46520" y="4873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~1,300 a 30,654 seguidores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006840" y="3337560"/>
            <a:ext cx="260604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81160" y="3657600"/>
            <a:ext cx="2148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4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4 de 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281160" y="45720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REELS +360 MIL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281160" y="4873752"/>
            <a:ext cx="2148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ningún reel ha bajado de 366 mil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172200" y="5760720"/>
            <a:ext cx="5440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4A443D"/>
                </a:solidFill>
                <a:latin typeface="Montserrat ExtraBold"/>
                <a:ea typeface="Montserrat ExtraBold"/>
                <a:cs typeface="Montserrat ExtraBold"/>
              </a:rPr>
              <a:t>Más de 40 s </a:t>
            </a: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de tiempo promedio visto por reel  ·  </a:t>
            </a:r>
            <a:r>
              <a:rPr sz="1000" b="1" i="0">
                <a:solidFill>
                  <a:srgbClr val="4A443D"/>
                </a:solidFill>
                <a:latin typeface="Montserrat ExtraBold"/>
                <a:ea typeface="Montserrat ExtraBold"/>
                <a:cs typeface="Montserrat ExtraBold"/>
              </a:rPr>
              <a:t>94% </a:t>
            </a: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de las vistas vienen de gente nueva (no seguidores)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58368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ESTO YA ESTABA PASANDO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BOING × MURALITOS · DE FORMA ORGÁNICA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Antes de cualquier acuerdo, Boing ya era parte de la historia: los puesteros me regalaban un Boing mientras pintaba, y la comunidad hizo el resto: votó por su sabor favorito y etiquetó a la marca pidiendo que apoyara el proyecto.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3172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2.56M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36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REPRODUCCIONES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649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2 reels donde aparece Boing (75% del proyecto)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331720"/>
            <a:ext cx="26517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20.6 mil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136392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VOTOS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33649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la encuesta Boing de guayaba vs. Boing de mango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605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LO QUE DIJO LA COMUNIDAD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4480560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“@boingoficial_mx haz tu chamba”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48056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150 likes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956048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56048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“@boingoficial_mx patrocínalo”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00600" y="495604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27 likes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431536"/>
            <a:ext cx="5486400" cy="384048"/>
          </a:xfrm>
          <a:prstGeom prst="roundRect">
            <a:avLst>
              <a:gd name="adj" fmla="val 20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431536"/>
            <a:ext cx="42062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“Arriba Viccio, los rótulos y el Boing (de mango)”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5431536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C42B1C"/>
                </a:solidFill>
                <a:latin typeface="Montserrat Bold"/>
                <a:ea typeface="Montserrat Bold"/>
                <a:cs typeface="Montserrat Bold"/>
              </a:rPr>
              <a:t>♥ 10 likes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43600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Además: un debate espontáneo guayaba vs. mango con cientos de likes y decenas de respuestas.</a:t>
            </a:r>
          </a:p>
        </p:txBody>
      </p:sp>
      <p:pic>
        <p:nvPicPr>
          <p:cNvPr id="24" name="Picture 23" descr="boing_frame2.jpg"/>
          <p:cNvPicPr>
            <a:picLocks noChangeAspect="1"/>
          </p:cNvPicPr>
          <p:nvPr/>
        </p:nvPicPr>
        <p:blipFill>
          <a:blip r:embed="rId2"/>
          <a:srcRect l="32" r="32"/>
          <a:stretch>
            <a:fillRect/>
          </a:stretch>
        </p:blipFill>
        <p:spPr>
          <a:xfrm>
            <a:off x="6446520" y="1097280"/>
            <a:ext cx="5212080" cy="24048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46520" y="3566160"/>
            <a:ext cx="5212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Reel Periódicos Don Manuel · 645 mil reproducciones</a:t>
            </a:r>
          </a:p>
        </p:txBody>
      </p:sp>
      <p:pic>
        <p:nvPicPr>
          <p:cNvPr id="26" name="Picture 25" descr="pol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931920"/>
            <a:ext cx="3529584" cy="218003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149840" y="3931920"/>
            <a:ext cx="155448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Encuesta en el reel de Tacos Don Pedrito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1.9M reproducciones · 20,600 respuestas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¿QUIÉN LO VE?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AUDIENCIA · DATOS DE INSTAGRAM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88%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MÉXICO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05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la audiencia en los reels con Boing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37560" y="123444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66160" y="146304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96%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19456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ADULTOS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45059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mayores de 18 años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46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4747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3 de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18 A 34 AÑOS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46227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los reels con Boing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37560" y="3246120"/>
            <a:ext cx="26060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66160" y="3474720"/>
            <a:ext cx="2286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3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28%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20624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1" i="0" spc="1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CDMX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66160" y="4462272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de los seguidores; le siguen Ecatepec, Naucalpan y Neza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349240"/>
            <a:ext cx="53949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llega sobre todo a gente que todavía no me sigue (96–99% no seguidores): el proyecto sale de la burbuja y encuentra audiencia nueva cada vez.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234440"/>
            <a:ext cx="534924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1463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SEGUIDORES POR EDAD (%)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492240" y="1828800"/>
          <a:ext cx="498348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68580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NOS UNE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VALORES COMPARTIDOS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nuestra primera llamada coincidimos en algo: lo que más brilla del proyecto es la parte humana. Estos son los valores que Muralitos Puesteros y Pascual ya tienen en común.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22959" y="233172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331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Trabajo organizado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9260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Pascual es una cooperativa de trabajadores. Muralitos Puesteros trabaja para otros trabajadores: los puesteros de la ciudad.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7639" y="205740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251959" y="233172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51959" y="233172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46320" y="233172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Compartir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59" y="292608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trueque: pinto a cambio de un taco, un jugo o un periódico. Al puestero no le cuesta nada.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690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22959" y="434340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" y="4343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Cultura de calle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4937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rótulo a mano y el puesto de comida son patrimonio visual de la ciudad. Boing es parte de esa mesa.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977639" y="4069080"/>
            <a:ext cx="324612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251959" y="4343400"/>
            <a:ext cx="411480" cy="41148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59" y="4343400"/>
            <a:ext cx="4114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46320" y="4343400"/>
            <a:ext cx="219456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Hecho a mano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59" y="493776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Sin agencias ni guiones: cada pieza y cada video salen de la calle, hechos por personas reales.</a:t>
            </a:r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2"/>
          <a:srcRect l="11143" r="11143"/>
          <a:stretch>
            <a:fillRect/>
          </a:stretch>
        </p:blipFill>
        <p:spPr>
          <a:xfrm>
            <a:off x="7589520" y="868680"/>
            <a:ext cx="4069080" cy="512064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89520" y="6053328"/>
            <a:ext cx="4069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Jugos y Licuados Don Benjamín · 2026</a:t>
            </a:r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CÓMO NACE 1 MURALITO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EL PROCESO · ~38 HORAS DE TRABAJO POR PIEZA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49808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~4 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Scouting y acuerdo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Recorrer la alcaldía, elegir puestos visibles y en blanco, conversar con el puestero y avisar a la alcaldía.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16352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017520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0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02152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~8 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Diseño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Investigación del giro, boceto a mano, color digital y fotomontaje para que el puestero lo apruebe.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84064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85231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85231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9864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~11 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85231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Producción en calle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85231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Lijado, primer, trazo, pinta con técnicas mixtas y sellado. 5–7 h de pinta más montaje y traslados.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51775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552944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2944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37575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~5 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52944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Registro final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52944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Regreso con buena luz para foto y video de la pieza terminada, con el puestero.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19488" y="1188720"/>
            <a:ext cx="2148840" cy="2606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820656" y="1371600"/>
            <a:ext cx="384048" cy="384048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20656" y="13716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05288" y="1371600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~10 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0656" y="192024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Edición y publicación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0656" y="2395728"/>
            <a:ext cx="17830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Guion, edición del reel multicámara, carrusel, historias y seguimiento de métricas.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2"/>
          <a:srcRect t="15372" b="15372"/>
          <a:stretch>
            <a:fillRect/>
          </a:stretch>
        </p:blipFill>
        <p:spPr>
          <a:xfrm>
            <a:off x="548640" y="3977639"/>
            <a:ext cx="2697480" cy="187451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48640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01 · Tacos Don Pedrito</a:t>
            </a:r>
          </a:p>
        </p:txBody>
      </p:sp>
      <p:pic>
        <p:nvPicPr>
          <p:cNvPr id="36" name="Picture 35" descr="image.jpg"/>
          <p:cNvPicPr>
            <a:picLocks noChangeAspect="1"/>
          </p:cNvPicPr>
          <p:nvPr/>
        </p:nvPicPr>
        <p:blipFill>
          <a:blip r:embed="rId3"/>
          <a:srcRect t="14472" b="14472"/>
          <a:stretch>
            <a:fillRect/>
          </a:stretch>
        </p:blipFill>
        <p:spPr>
          <a:xfrm>
            <a:off x="3364992" y="3977639"/>
            <a:ext cx="2697480" cy="187451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364992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02 · Jugos Don Benjamín</a:t>
            </a:r>
          </a:p>
        </p:txBody>
      </p:sp>
      <p:pic>
        <p:nvPicPr>
          <p:cNvPr id="38" name="Picture 37" descr="image.jpg"/>
          <p:cNvPicPr>
            <a:picLocks noChangeAspect="1"/>
          </p:cNvPicPr>
          <p:nvPr/>
        </p:nvPicPr>
        <p:blipFill>
          <a:blip r:embed="rId4"/>
          <a:srcRect t="30456" b="30456"/>
          <a:stretch>
            <a:fillRect/>
          </a:stretch>
        </p:blipFill>
        <p:spPr>
          <a:xfrm>
            <a:off x="6181344" y="3977639"/>
            <a:ext cx="2697480" cy="1874519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181344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03 · Periódicos Don Manuel</a:t>
            </a:r>
          </a:p>
        </p:txBody>
      </p:sp>
      <p:pic>
        <p:nvPicPr>
          <p:cNvPr id="40" name="Picture 39" descr="image.jpg"/>
          <p:cNvPicPr>
            <a:picLocks noChangeAspect="1"/>
          </p:cNvPicPr>
          <p:nvPr/>
        </p:nvPicPr>
        <p:blipFill>
          <a:blip r:embed="rId5"/>
          <a:srcRect t="30456" b="30456"/>
          <a:stretch>
            <a:fillRect/>
          </a:stretch>
        </p:blipFill>
        <p:spPr>
          <a:xfrm>
            <a:off x="8997696" y="3977639"/>
            <a:ext cx="2697480" cy="1874519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997696" y="5897880"/>
            <a:ext cx="2697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1" i="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04 · Tacos de guisado Teo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7724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CUESTA 1 MURALITO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VALOR REAL DE PRODUCCIÓN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Materiales y consumibles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234440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Pintura vinílica, aerosoles, primer, sellador, herramienta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234440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$3,500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837944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837944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Logística y 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837944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Traslados con material, viáticos y desgaste de cámaras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6480" y="1837944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$1,700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441448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441448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Diseño original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2441448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Investigación, boceto, color digital y fotomontaje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41448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$3,500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044952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44952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Producción en calle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54680" y="3044952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Jornada de preparación, pinta y sellado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044952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$4,500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48456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648456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Contenido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54680" y="3648456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Grabación multicámara, reel, fotos, carrusel e historias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3648456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$4,500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251960"/>
            <a:ext cx="6949440" cy="512064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4251960"/>
            <a:ext cx="23774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Gestión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54680" y="4251960"/>
            <a:ext cx="310896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Scouting, acuerdo con puestero y alcaldía, reporte de métricas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251960"/>
            <a:ext cx="11887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5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$1,500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4946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Costo total de producción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4946904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6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$19,200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5404104"/>
            <a:ext cx="6583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Montos en MXN. Considera ~38 horas de trabajo de una persona y un puesto de 3 a 7 m².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09560" y="1234440"/>
            <a:ext cx="3749039" cy="292608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83879" y="14630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VALOR POR MURALITO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83879" y="1828800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8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$20,000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83879" y="278892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MXN + IVA. Mural permanente en la calle + contenido completo + difusión a una audiencia probada.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09560" y="4343400"/>
            <a:ext cx="3749039" cy="1645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83879" y="452628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171411"/>
                </a:solidFill>
                <a:latin typeface="Montserrat Bold"/>
                <a:ea typeface="Montserrat Bold"/>
                <a:cs typeface="Montserrat Bold"/>
              </a:rPr>
              <a:t>Referencia: </a:t>
            </a: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solo el mural, a mi tarifa comercial, parte de $10,000. Aquí además va el diseño, el registro y un reel que en promedio supera el medio millón de reproducciones.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7724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EL TRUEQUE SE COMPARTE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LA PROPUESTA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498079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Propongo que Cooperativa Pascual y Boing patrocinen una campaña de Muralitos Puesteros: financian la producción y aportan producto para que el trueque no se quede en el puesto, sino que llegue a toda la calle.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El puestero comparte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su producto: un taco, un jugo, un periódico. Es su parte del trueque.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63824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10712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39312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39312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Viccio pinta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9312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su puesto sin costo: rótulo tradicional e ilustración original.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5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72783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383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383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Boing se comparte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1383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con los clientes, vecinos y curiosos que se acercan mientras pinto.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887968" y="3108960"/>
            <a:ext cx="192024" cy="274320"/>
          </a:xfrm>
          <a:prstGeom prst="rightArrow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34856" y="2194560"/>
            <a:ext cx="256032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63456" y="23774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63456" y="288036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La historia llega lejos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3456" y="3291840"/>
            <a:ext cx="2103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un reel que cuenta todo el proceso a cientos de miles de personas.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617720"/>
            <a:ext cx="11109960" cy="132588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4617720"/>
            <a:ext cx="106070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Boing no aparece pintado en el puesto: </a:t>
            </a:r>
            <a:r>
              <a:rPr sz="13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aparece donde ya estaba, en la mano de la gente. </a:t>
            </a:r>
            <a:r>
              <a:rPr sz="13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Así la marca se asocia a la parte humana del proyecto sin romper lo que hizo que la gente conectara.</a:t>
            </a:r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QUÉ RECIBE PASCUAL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ENTREGABLES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POR CADA MURALITO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801368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01368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664207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1 reel colaborativo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975104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Publicado en conjunto con la cuenta de Boing, para que aparezca en ambos perfiles.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78608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77240" y="2825496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25496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688336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Carrusel e historias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999232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Fotos de la pieza final y del proceso, con mención y etiqueta a la marca.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02736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77240" y="3849624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849624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7124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Activación en calle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4023360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Boing regalado a clientes y vecinos durante la pinta, en cámara y de forma natural.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26864"/>
            <a:ext cx="60350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77240" y="4873752"/>
            <a:ext cx="402336" cy="402336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873752"/>
            <a:ext cx="402336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4736592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Reporte de métricas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20" y="5047488"/>
            <a:ext cx="4983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Reproducciones, alcance e interacciones de cada publicación, a los 7 días.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1887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DURANTE TODA LA CAMPAÑA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949440" y="15544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78040" y="1691639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Asociación de marca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20116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Boing como aliado de un proyecto cultural con valores claros: rescate del rótulo, trueque y apoyo al comercio de calle.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949440" y="29260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78040" y="30632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Licencia de uso del contenido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33832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Pascual puede publicar y compartir fotos y videos en sus redes durante la vigencia del paquete.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4297680"/>
            <a:ext cx="4709160" cy="1243584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78040" y="4434840"/>
            <a:ext cx="42976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Menciones en redes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178040" y="4754880"/>
            <a:ext cx="4297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Crédito a Cooperativa Pascual y Boing como quienes hacen posible que el proyecto siga siendo gratuito.</a:t>
            </a:r>
          </a:p>
        </p:txBody>
      </p:sp>
      <p:pic>
        <p:nvPicPr>
          <p:cNvPr id="35" name="Picture 3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CÓMO LO CUIDAMOS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REGLAS DEL JUEGO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6400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gente conecta con el proyecto porque es auténtico. Estas reglas protegen eso, y también protegen a la marca.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756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Sin logos en el puesto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3957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El mural es del puestero y de la calle. La marca vive en el contenido, no en la pieza. Esto además evita que la pieza se lea como publicidad en vía pública.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9202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0756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Publicidad transparente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957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Las publicaciones patrocinadas se etiquetan como colaboración pagada, conforme a la guía de PROFECO para creadores de contenido.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34472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Boing solo para adultos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673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En cámara, el producto se regala a personas adultas; nunca a menores (NOM-051).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918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34472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Sin guion forzado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3767328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 mantiene el tono y la narrativa orgánica que generó los resultados.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6634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8188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Autoría y licencia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" y="5138927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obra y su autoría son del artista; Pascual recibe licencia de uso del contenido.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663440"/>
            <a:ext cx="5486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818888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Coordinación con la alcaldía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138927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Cada pinta se avisa previamente a la autoridad de comercio en vía pública.</a:t>
            </a:r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ALCANCES DE LA CAMPAÑA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PAQUETES DE PATROCINIO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35204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27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BARRIO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3 muralitos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$57,000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1546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$19,000 por muralito · + IVA</a:t>
            </a:r>
          </a:p>
        </p:txBody>
      </p:sp>
      <p:sp>
        <p:nvSpPr>
          <p:cNvPr id="9" name="Oval 8"/>
          <p:cNvSpPr/>
          <p:nvPr/>
        </p:nvSpPr>
        <p:spPr>
          <a:xfrm>
            <a:off x="841247" y="3794759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3 reels colaborativos</a:t>
            </a:r>
          </a:p>
        </p:txBody>
      </p:sp>
      <p:sp>
        <p:nvSpPr>
          <p:cNvPr id="11" name="Oval 10"/>
          <p:cNvSpPr/>
          <p:nvPr/>
        </p:nvSpPr>
        <p:spPr>
          <a:xfrm>
            <a:off x="841247" y="4270248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178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Carruseles e historias</a:t>
            </a:r>
          </a:p>
        </p:txBody>
      </p:sp>
      <p:sp>
        <p:nvSpPr>
          <p:cNvPr id="13" name="Oval 12"/>
          <p:cNvSpPr/>
          <p:nvPr/>
        </p:nvSpPr>
        <p:spPr>
          <a:xfrm>
            <a:off x="841247" y="4745736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46542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Activación con Boing en cada pinta</a:t>
            </a:r>
          </a:p>
        </p:txBody>
      </p:sp>
      <p:sp>
        <p:nvSpPr>
          <p:cNvPr id="15" name="Oval 14"/>
          <p:cNvSpPr/>
          <p:nvPr/>
        </p:nvSpPr>
        <p:spPr>
          <a:xfrm>
            <a:off x="841247" y="5221223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51297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Licencia de contenido: 3 meses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143000"/>
            <a:ext cx="3520440" cy="475488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63640" y="1371600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3640" y="137160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1" i="0" spc="10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RECOMENDADO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13990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COLONIA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17373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5 muralitos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23317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FFFFFF"/>
                </a:solidFill>
                <a:latin typeface="Montserrat Black"/>
                <a:ea typeface="Montserrat Black"/>
                <a:cs typeface="Montserrat Black"/>
              </a:rPr>
              <a:t>$85,000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29260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$17,000 por muralito · + IVA</a:t>
            </a:r>
          </a:p>
        </p:txBody>
      </p:sp>
      <p:sp>
        <p:nvSpPr>
          <p:cNvPr id="24" name="Oval 23"/>
          <p:cNvSpPr/>
          <p:nvPr/>
        </p:nvSpPr>
        <p:spPr>
          <a:xfrm>
            <a:off x="4636008" y="3566160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73752" y="34747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Todo lo del paquete Barrio</a:t>
            </a:r>
          </a:p>
        </p:txBody>
      </p:sp>
      <p:sp>
        <p:nvSpPr>
          <p:cNvPr id="26" name="Oval 25"/>
          <p:cNvSpPr/>
          <p:nvPr/>
        </p:nvSpPr>
        <p:spPr>
          <a:xfrm>
            <a:off x="4636008" y="4041648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73752" y="39502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Reel resumen de toda la campaña</a:t>
            </a:r>
          </a:p>
        </p:txBody>
      </p:sp>
      <p:sp>
        <p:nvSpPr>
          <p:cNvPr id="28" name="Oval 27"/>
          <p:cNvSpPr/>
          <p:nvPr/>
        </p:nvSpPr>
        <p:spPr>
          <a:xfrm>
            <a:off x="4636008" y="451713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3752" y="44256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Exclusividad en bebidas durante la campaña</a:t>
            </a:r>
          </a:p>
        </p:txBody>
      </p:sp>
      <p:sp>
        <p:nvSpPr>
          <p:cNvPr id="30" name="Oval 29"/>
          <p:cNvSpPr/>
          <p:nvPr/>
        </p:nvSpPr>
        <p:spPr>
          <a:xfrm>
            <a:off x="4636008" y="4992623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73752" y="49011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</a:rPr>
              <a:t>Licencia de contenido: 6 meses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20440" cy="4526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162763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ALCALDÍA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196596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2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10 muralitos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2560320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2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$160,000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3154680"/>
            <a:ext cx="2971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$16,000 por muralito · + IVA</a:t>
            </a:r>
          </a:p>
        </p:txBody>
      </p:sp>
      <p:sp>
        <p:nvSpPr>
          <p:cNvPr id="37" name="Oval 36"/>
          <p:cNvSpPr/>
          <p:nvPr/>
        </p:nvSpPr>
        <p:spPr>
          <a:xfrm>
            <a:off x="8430768" y="3794759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68512" y="370332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Todo lo del paquete Colonia</a:t>
            </a:r>
          </a:p>
        </p:txBody>
      </p:sp>
      <p:sp>
        <p:nvSpPr>
          <p:cNvPr id="39" name="Oval 38"/>
          <p:cNvSpPr/>
          <p:nvPr/>
        </p:nvSpPr>
        <p:spPr>
          <a:xfrm>
            <a:off x="8430768" y="4270248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68512" y="4178808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Mini documental del proyecto</a:t>
            </a:r>
          </a:p>
        </p:txBody>
      </p:sp>
      <p:sp>
        <p:nvSpPr>
          <p:cNvPr id="41" name="Oval 40"/>
          <p:cNvSpPr/>
          <p:nvPr/>
        </p:nvSpPr>
        <p:spPr>
          <a:xfrm>
            <a:off x="8430768" y="4745736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68512" y="4654296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Pieza en colaboración con un maestro rotulista</a:t>
            </a:r>
          </a:p>
        </p:txBody>
      </p:sp>
      <p:sp>
        <p:nvSpPr>
          <p:cNvPr id="43" name="Oval 42"/>
          <p:cNvSpPr/>
          <p:nvPr/>
        </p:nvSpPr>
        <p:spPr>
          <a:xfrm>
            <a:off x="8430768" y="5221223"/>
            <a:ext cx="109728" cy="109728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68512" y="5129783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Cierre con los puesteros · Licencia: 12 meses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9893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Todos los paquetes incluyen producto en especie aportado por Pascual (~120 piezas de Boing por muralito) para regalar en calle. Precios en MXN + IVA.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LO QUE RINDE LA INVERSIÓN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PROYECCIÓN · 5 MURALITOS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Una estimación con base en los resultados reales de los 4 reels del proyecto. No es una garantía de alcance: es lo que el formato ya demostró.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ESCENARIO CONSERVADOR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60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rinde como el menos visto (366 mil)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063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1.8M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931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reproducciones estimadas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45262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~$46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por cada mil reproducciones, incluyendo murales y contenido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59" y="2011680"/>
            <a:ext cx="3749039" cy="3931920"/>
          </a:xfrm>
          <a:prstGeom prst="roundRect">
            <a:avLst>
              <a:gd name="adj" fmla="val 6000"/>
            </a:avLst>
          </a:prstGeom>
          <a:solidFill>
            <a:srgbClr val="E8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402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ESCENARIO PROMEDIO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56032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Cada reel rinde como el promedio actual (859 mil)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063240"/>
            <a:ext cx="32918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46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4.3M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79" y="39319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reproducciones estimadas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52628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400" b="0" i="0">
                <a:solidFill>
                  <a:srgbClr val="171411"/>
                </a:solidFill>
                <a:latin typeface="Montserrat Black"/>
                <a:ea typeface="Montserrat Black"/>
                <a:cs typeface="Montserrat Black"/>
              </a:rPr>
              <a:t>~$20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79" y="52578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por cada mil reproducciones, incluyendo murales y contenido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011680"/>
            <a:ext cx="3154680" cy="3931920"/>
          </a:xfrm>
          <a:prstGeom prst="roundRect">
            <a:avLst>
              <a:gd name="adj" fmla="val 6000"/>
            </a:avLst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22402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0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Y ADEMÁS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265176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murales permanentes en la calle, vistos a diario por peatones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456432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Contenido reutilizable con licencia de uso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261104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Asociación con un proyecto cultural querido por su comunidad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32520" y="5065776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Montserrat SemiBold"/>
                <a:ea typeface="Montserrat SemiBold"/>
                <a:cs typeface="Montserrat SemiBold"/>
              </a:rPr>
              <a:t>5 puesteros con su rótulo de vuelta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CALENDARIO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PAQUETE COLONIA · ~10 SEMANAS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054096"/>
            <a:ext cx="10607040" cy="45720"/>
          </a:xfrm>
          <a:prstGeom prst="rect">
            <a:avLst/>
          </a:prstGeom>
          <a:solidFill>
            <a:srgbClr val="CFC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2894076"/>
            <a:ext cx="365760" cy="365760"/>
          </a:xfrm>
          <a:prstGeom prst="ellipse">
            <a:avLst/>
          </a:prstGeom>
          <a:solidFill>
            <a:srgbClr val="1F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 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Firma, anticipo y selección de los primeros puestos</a:t>
            </a:r>
          </a:p>
        </p:txBody>
      </p:sp>
      <p:sp>
        <p:nvSpPr>
          <p:cNvPr id="8" name="Oval 7"/>
          <p:cNvSpPr/>
          <p:nvPr/>
        </p:nvSpPr>
        <p:spPr>
          <a:xfrm>
            <a:off x="240792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1356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356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1 · diseño, pinta y publicación</a:t>
            </a:r>
          </a:p>
        </p:txBody>
      </p:sp>
      <p:sp>
        <p:nvSpPr>
          <p:cNvPr id="11" name="Oval 10"/>
          <p:cNvSpPr/>
          <p:nvPr/>
        </p:nvSpPr>
        <p:spPr>
          <a:xfrm>
            <a:off x="417576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8140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3–4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140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2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5–6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924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3 · reporte de medio término</a:t>
            </a:r>
          </a:p>
        </p:txBody>
      </p:sp>
      <p:sp>
        <p:nvSpPr>
          <p:cNvPr id="17" name="Oval 16"/>
          <p:cNvSpPr/>
          <p:nvPr/>
        </p:nvSpPr>
        <p:spPr>
          <a:xfrm>
            <a:off x="771144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708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7–8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1708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4</a:t>
            </a:r>
          </a:p>
        </p:txBody>
      </p:sp>
      <p:sp>
        <p:nvSpPr>
          <p:cNvPr id="20" name="Oval 19"/>
          <p:cNvSpPr/>
          <p:nvPr/>
        </p:nvSpPr>
        <p:spPr>
          <a:xfrm>
            <a:off x="9479280" y="2894076"/>
            <a:ext cx="365760" cy="365760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84920" y="352044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SEMANAS 9–10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84920" y="381304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Muralito 5 · reel resumen de campaña</a:t>
            </a:r>
          </a:p>
        </p:txBody>
      </p:sp>
      <p:sp>
        <p:nvSpPr>
          <p:cNvPr id="23" name="Oval 22"/>
          <p:cNvSpPr/>
          <p:nvPr/>
        </p:nvSpPr>
        <p:spPr>
          <a:xfrm>
            <a:off x="11247120" y="2894076"/>
            <a:ext cx="365760" cy="365760"/>
          </a:xfrm>
          <a:prstGeom prst="ellipse">
            <a:avLst/>
          </a:prstGeom>
          <a:solidFill>
            <a:srgbClr val="1F6B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52760" y="14173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900" b="1" i="0" spc="10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SEMANA 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52760" y="1709928"/>
            <a:ext cx="15544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Reporte final de resultados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8920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892040"/>
            <a:ext cx="1060704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Un muralito cada dos semanas mantiene un ritmo de publicación constante sin sacrificar la calidad de cada pieza. Las fechas exactas se ajustan al clima y a la disponibilidad de cada puestero.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73152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34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CONDICIONES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TÉRMINOS GENERALES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23444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Pagos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360" y="1234440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50% de anticipo a la firma y 50% a mitad de campaña (al publicar el muralito 3 en el paquete Colonia).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20824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020824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Facturación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2020824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Emito CFDI (régimen RESICO). Precios en MXN más IVA.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07208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07208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Producto en especie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360" y="2807208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~120 piezas de Boing por muralito, entregadas antes de cada pinta.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93592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593592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Licencia de contenido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3593592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Uso no exclusivo en redes orgánicas de Pascual y Boing durante la vigencia del paquete. La pauta pagada con el contenido se cotiza aparte.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79976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379976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Derechos de autor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379976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obra, el diseño y su autoría pertenecen al artista.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166360"/>
            <a:ext cx="7680960" cy="676656"/>
          </a:xfrm>
          <a:prstGeom prst="roundRect">
            <a:avLst>
              <a:gd name="adj" fmla="val 12000"/>
            </a:avLst>
          </a:prstGeom>
          <a:solidFill>
            <a:srgbClr val="FA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166360"/>
            <a:ext cx="210312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10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Métricas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5166360"/>
            <a:ext cx="516636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Reporte por muralito a los 7 días de publicado y reporte final de campaña.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2"/>
          <a:srcRect t="7978" b="7978"/>
          <a:stretch>
            <a:fillRect/>
          </a:stretch>
        </p:blipFill>
        <p:spPr>
          <a:xfrm>
            <a:off x="8549640" y="1234440"/>
            <a:ext cx="3108960" cy="4645152"/>
          </a:xfrm>
          <a:prstGeom prst="rect">
            <a:avLst/>
          </a:prstGeom>
        </p:spPr>
      </p:pic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rcRect l="600" r="600"/>
          <a:stretch>
            <a:fillRect/>
          </a:stretch>
        </p:blipFill>
        <p:spPr>
          <a:xfrm>
            <a:off x="8183879" y="0"/>
            <a:ext cx="400507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548640"/>
            <a:ext cx="7315200" cy="109728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4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¿PINTAMOS JUNTOS?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69494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Gracias por buscarme y por creer en el proyecto. Con su apoyo, Muralitos Puesteros puede seguir devolviéndole sus rótulos y colores a la calle.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0604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SIGUIENTES PASOS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971800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971800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Revisión de la propuesta con el equipo y la cooperativa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538728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3872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538728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Elección del paquete y ajustes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105656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10565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105656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Firma, anticipo y calendario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672583"/>
            <a:ext cx="384048" cy="384048"/>
          </a:xfrm>
          <a:prstGeom prst="ellipse">
            <a:avLst/>
          </a:prstGeom>
          <a:solidFill>
            <a:srgbClr val="C42B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672583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672583"/>
            <a:ext cx="59436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Primer muralito en las siguientes 2 semanas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2880360"/>
            <a:ext cx="1600200" cy="1799615"/>
          </a:xfrm>
          <a:prstGeom prst="rect">
            <a:avLst/>
          </a:prstGeom>
        </p:spPr>
      </p:pic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715000"/>
            <a:ext cx="65836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325880" y="5760720"/>
            <a:ext cx="6400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1" i="0" spc="100">
                <a:solidFill>
                  <a:srgbClr val="171411"/>
                </a:solidFill>
                <a:latin typeface="Montserrat"/>
                <a:ea typeface="Montserrat"/>
                <a:cs typeface="Montserrat"/>
              </a:rPr>
              <a:t>VICCIO — VÍCTOR PALACIO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4A443D"/>
                </a:solidFill>
                <a:latin typeface="Montserrat Medium"/>
                <a:ea typeface="Montserrat Medium"/>
                <a:cs typeface="Montserrat Medium"/>
              </a:rPr>
              <a:t>viqpgz@gmail.com  ·  55 6659 7811  ·  @viccio____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PROCESO A DETALLE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SCOUTING Y DISEÑO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53949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9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Scouting. </a:t>
            </a: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Hasta hoy todos los muralitos se han pintado en la Roma y la Condesa; el plan es recorrer toda la alcaldía. Se buscan puestos con la carátula en blanco o con el rótulo borrado, puesteros interesados en el proyecto (no todos quieren) y ubicaciones visibles y transitadas.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9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Diseño. </a:t>
            </a: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Con el acuerdo del puestero se fotografía el puesto y se investigan referencias del giro. Se dibuja a mano, se colorea en digital y se hace un fotomontaje para aprobarlo y preparar colores y materiales. La base conceptual son las manos y las acciones del oficio: cortar, voltear, exprimir, hojear. Todos los diseños son originales.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rcRect t="9875" b="9875"/>
          <a:stretch>
            <a:fillRect/>
          </a:stretch>
        </p:blipFill>
        <p:spPr>
          <a:xfrm>
            <a:off x="6263640" y="1005840"/>
            <a:ext cx="5394960" cy="21945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0"/>
            <a:ext cx="3931920" cy="102876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rcRect l="10795" r="10795"/>
          <a:stretch>
            <a:fillRect/>
          </a:stretch>
        </p:blipFill>
        <p:spPr>
          <a:xfrm>
            <a:off x="4754880" y="3520440"/>
            <a:ext cx="2103120" cy="201168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rcRect l="10795" r="10795"/>
          <a:stretch>
            <a:fillRect/>
          </a:stretch>
        </p:blipFill>
        <p:spPr>
          <a:xfrm>
            <a:off x="7132320" y="3520440"/>
            <a:ext cx="2103120" cy="201168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rcRect l="22400" r="22400"/>
          <a:stretch>
            <a:fillRect/>
          </a:stretch>
        </p:blipFill>
        <p:spPr>
          <a:xfrm>
            <a:off x="9509760" y="3520440"/>
            <a:ext cx="2148840" cy="2011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Bocetos a mano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Boceto Periódicos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Pieza final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0" y="5596128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850" b="1" i="0">
                <a:solidFill>
                  <a:srgbClr val="4A443D"/>
                </a:solidFill>
                <a:latin typeface="Montserrat"/>
                <a:ea typeface="Montserrat"/>
                <a:cs typeface="Montserrat"/>
              </a:rPr>
              <a:t>Fotomontaje digital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PRODUCCIÓN Y REGISTRO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DÍA DE PINTA Y CONTENIDO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Coordinación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Antes de pintar se avisa a la supervisión de comercio en vía pública de la alcaldía dónde y cuándo se va a intervenir, con base en un acuerdo previo.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26279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79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199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Preparación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79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Traslado con todo el material. Se lija, se retira óxido y pintura suelta, y se aplica primer y sellador para asegurar adherencia y duración.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19" y="118872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75319" y="141732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4173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0" y="1417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Pinta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196596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Trazo del diseño aprobado y producción con técnicas mixtas: aerosol, brocha y vinílica. Al terminar se sella para proteger la pieza del sol y el desgaste.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Grabación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Todo el proceso se graba con varias cámaras y micrófonos: la pinta, el trueque y las interacciones espontáneas con el puestero y la calle.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526279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79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199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Registro final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79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La pinta suele terminar de noche, así que se regresa con buena luz para fotografiar la pieza con cámara profesional y, si acepta, al puestero.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19" y="3566160"/>
            <a:ext cx="361188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75319" y="3794760"/>
            <a:ext cx="365760" cy="365760"/>
          </a:xfrm>
          <a:prstGeom prst="ellipse">
            <a:avLst/>
          </a:prstGeom>
          <a:solidFill>
            <a:srgbClr val="1714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19" y="37947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F3EFE6"/>
                </a:solidFill>
                <a:latin typeface="Montserrat ExtraBold"/>
                <a:ea typeface="Montserrat ExtraBold"/>
                <a:cs typeface="Montserrat Extra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7947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71411"/>
                </a:solidFill>
                <a:latin typeface="Montserrat ExtraBold"/>
                <a:ea typeface="Montserrat ExtraBold"/>
                <a:cs typeface="Montserrat ExtraBold"/>
              </a:rPr>
              <a:t>Edición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19" y="434340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Guion, selección de tomas de 4 cámaras, música, subtítulos y color para un reel de 1 a 1.5 minutos, más carrusel e historias.</a:t>
            </a:r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MÉTRICAS POR REEL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INSTAGRAM · CORTE AL 30 DE SEPTIEMBRE DE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10996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1325880"/>
                <a:gridCol w="1463040"/>
                <a:gridCol w="1051560"/>
                <a:gridCol w="1371600"/>
                <a:gridCol w="1005840"/>
                <a:gridCol w="109728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Reel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Reproducciones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Personas alcanzadas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Tiempo prom.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Nuevos seguidores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Likes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Guardados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Compartidos</a:t>
                      </a:r>
                    </a:p>
                  </a:txBody>
                  <a:tcPr marL="109728" marR="109728" anchor="ctr">
                    <a:solidFill>
                      <a:srgbClr val="1F6B6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Tacos Don Pedrito ★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1,919,034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531,456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43 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19,216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198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7.3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3.5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Periódicos Don Manuel ★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645,441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436,379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44 s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3,854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70.8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2.9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965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Jugos Don Benjamín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506,697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311,024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46 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4,888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75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2.6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1.3 mil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Tacos de guisado Teo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366,003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248,683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41 s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1,852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32.3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1.1 mil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i="0">
                          <a:solidFill>
                            <a:srgbClr val="171411"/>
                          </a:solidFill>
                          <a:latin typeface="Montserrat Medium"/>
                          <a:ea typeface="Montserrat Medium"/>
                          <a:cs typeface="Montserrat Medium"/>
                        </a:rPr>
                        <a:t>680</a:t>
                      </a:r>
                    </a:p>
                  </a:txBody>
                  <a:tcPr marL="109728" marR="109728" anchor="ctr">
                    <a:solidFill>
                      <a:srgbClr val="FAF7F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Total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3,437,175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—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41–46 s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29,810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376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13.9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i="0">
                          <a:solidFill>
                            <a:srgbClr val="171411"/>
                          </a:solidFill>
                          <a:latin typeface="Montserrat ExtraBold"/>
                          <a:ea typeface="Montserrat ExtraBold"/>
                          <a:cs typeface="Montserrat ExtraBold"/>
                        </a:rPr>
                        <a:t>6.4 mil</a:t>
                      </a:r>
                    </a:p>
                  </a:txBody>
                  <a:tcPr marL="109728" marR="109728" anchor="ctr">
                    <a:solidFill>
                      <a:srgbClr val="E8E1D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3434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★ Reels donde aparece Boing de forma orgánica: 2,564,475 reproducciones (75% del total).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80060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CUENTA · ÚLTIMOS 90 DÍAS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12064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1,031,441 personas alcanzadas  ·  2.33M reproducciones  ·  289,950 interacciones  ·  33,652 visitas al perfil  ·  93.6% de las vistas de no seguidores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00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Seguidores: 30,654 (88.7% México · 28% CDMX · 77% entre 25 y 44 años · 79.5% hombres, 20.5% mujeres)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EF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84048"/>
            <a:ext cx="8229600" cy="822960"/>
          </a:xfrm>
          <a:prstGeom prst="rect">
            <a:avLst/>
          </a:prstGeom>
          <a:noFill/>
          <a:effectLst>
            <a:outerShdw blurRad="127" dist="25400" dir="2700000" algn="bl" rotWithShape="0">
              <a:srgbClr val="1F6B67"/>
            </a:outerShdw>
          </a:effectLst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  <a:spcAft>
                <a:spcPts val="0"/>
              </a:spcAft>
            </a:pPr>
            <a:r>
              <a:rPr sz="2800" b="0" i="0">
                <a:solidFill>
                  <a:srgbClr val="C42B1C"/>
                </a:solidFill>
                <a:latin typeface="Montserrat Black"/>
                <a:ea typeface="Montserrat Black"/>
                <a:cs typeface="Montserrat Black"/>
              </a:rPr>
              <a:t>ANEXO · MATERIALES Y EQUIPO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53912" y="502920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850" b="1" i="0" spc="250">
                <a:solidFill>
                  <a:srgbClr val="1F6B67"/>
                </a:solidFill>
                <a:latin typeface="Montserrat ExtraBold"/>
                <a:ea typeface="Montserrat ExtraBold"/>
                <a:cs typeface="Montserrat ExtraBold"/>
              </a:rPr>
              <a:t>LO QUE SE USA EN CADA MURALITO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Pintura y preparación</a:t>
            </a:r>
          </a:p>
        </p:txBody>
      </p:sp>
      <p:sp>
        <p:nvSpPr>
          <p:cNvPr id="6" name="Oval 5"/>
          <p:cNvSpPr/>
          <p:nvPr/>
        </p:nvSpPr>
        <p:spPr>
          <a:xfrm>
            <a:off x="841247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Pintura vinílica base agua (primarios, blanco y negro): Comex, Berel, Behr, Acuario</a:t>
            </a:r>
          </a:p>
        </p:txBody>
      </p:sp>
      <p:sp>
        <p:nvSpPr>
          <p:cNvPr id="8" name="Oval 7"/>
          <p:cNvSpPr/>
          <p:nvPr/>
        </p:nvSpPr>
        <p:spPr>
          <a:xfrm>
            <a:off x="841247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Aerosol de baja presión: Solid Street Mate, 360 Mate, Montana MTN 94</a:t>
            </a:r>
          </a:p>
        </p:txBody>
      </p:sp>
      <p:sp>
        <p:nvSpPr>
          <p:cNvPr id="10" name="Oval 9"/>
          <p:cNvSpPr/>
          <p:nvPr/>
        </p:nvSpPr>
        <p:spPr>
          <a:xfrm>
            <a:off x="841247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Válvulas especializadas de medidas mixtas y adaptador</a:t>
            </a:r>
          </a:p>
        </p:txBody>
      </p:sp>
      <p:sp>
        <p:nvSpPr>
          <p:cNvPr id="12" name="Oval 11"/>
          <p:cNvSpPr/>
          <p:nvPr/>
        </p:nvSpPr>
        <p:spPr>
          <a:xfrm>
            <a:off x="841247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Primer base solvente y sellador 5×1</a:t>
            </a:r>
          </a:p>
        </p:txBody>
      </p:sp>
      <p:sp>
        <p:nvSpPr>
          <p:cNvPr id="14" name="Oval 13"/>
          <p:cNvSpPr/>
          <p:nvPr/>
        </p:nvSpPr>
        <p:spPr>
          <a:xfrm>
            <a:off x="841247" y="4581144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507992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Solvente en aerosol y thinner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79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1999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Herramienta y consumibles</a:t>
            </a:r>
          </a:p>
        </p:txBody>
      </p:sp>
      <p:sp>
        <p:nvSpPr>
          <p:cNvPr id="18" name="Oval 17"/>
          <p:cNvSpPr/>
          <p:nvPr/>
        </p:nvSpPr>
        <p:spPr>
          <a:xfrm>
            <a:off x="4590288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00599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Brochas sintéticas de 1", 2" y 3"</a:t>
            </a:r>
          </a:p>
        </p:txBody>
      </p:sp>
      <p:sp>
        <p:nvSpPr>
          <p:cNvPr id="20" name="Oval 19"/>
          <p:cNvSpPr/>
          <p:nvPr/>
        </p:nvSpPr>
        <p:spPr>
          <a:xfrm>
            <a:off x="4590288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599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Rodillo de 9", mini rodillos de 4" y extensión de 1.2 m</a:t>
            </a:r>
          </a:p>
        </p:txBody>
      </p:sp>
      <p:sp>
        <p:nvSpPr>
          <p:cNvPr id="22" name="Oval 21"/>
          <p:cNvSpPr/>
          <p:nvPr/>
        </p:nvSpPr>
        <p:spPr>
          <a:xfrm>
            <a:off x="4590288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599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Charolas, masking de 1" y 2", espátula 14 en 1</a:t>
            </a:r>
          </a:p>
        </p:txBody>
      </p:sp>
      <p:sp>
        <p:nvSpPr>
          <p:cNvPr id="24" name="Oval 23"/>
          <p:cNvSpPr/>
          <p:nvPr/>
        </p:nvSpPr>
        <p:spPr>
          <a:xfrm>
            <a:off x="4590288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599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Vasos, bolsas de basura y trapos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46719" y="1188720"/>
            <a:ext cx="3611880" cy="4754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371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C42B1C"/>
                </a:solidFill>
                <a:latin typeface="Montserrat ExtraBold"/>
                <a:ea typeface="Montserrat ExtraBold"/>
                <a:cs typeface="Montserrat ExtraBold"/>
              </a:rPr>
              <a:t>Equipo de registro</a:t>
            </a:r>
          </a:p>
        </p:txBody>
      </p:sp>
      <p:sp>
        <p:nvSpPr>
          <p:cNvPr id="28" name="Oval 27"/>
          <p:cNvSpPr/>
          <p:nvPr/>
        </p:nvSpPr>
        <p:spPr>
          <a:xfrm>
            <a:off x="8339327" y="194767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187451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profesional Sony</a:t>
            </a:r>
          </a:p>
        </p:txBody>
      </p:sp>
      <p:sp>
        <p:nvSpPr>
          <p:cNvPr id="30" name="Oval 29"/>
          <p:cNvSpPr/>
          <p:nvPr/>
        </p:nvSpPr>
        <p:spPr>
          <a:xfrm>
            <a:off x="8339327" y="2606039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49640" y="2532887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de acción Akaso V50 con arnés POV</a:t>
            </a:r>
          </a:p>
        </p:txBody>
      </p:sp>
      <p:sp>
        <p:nvSpPr>
          <p:cNvPr id="32" name="Oval 31"/>
          <p:cNvSpPr/>
          <p:nvPr/>
        </p:nvSpPr>
        <p:spPr>
          <a:xfrm>
            <a:off x="8339327" y="3264408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49640" y="3191256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Cámara tipo pulgar 4K con accesorios de montaje</a:t>
            </a:r>
          </a:p>
        </p:txBody>
      </p:sp>
      <p:sp>
        <p:nvSpPr>
          <p:cNvPr id="34" name="Oval 33"/>
          <p:cNvSpPr/>
          <p:nvPr/>
        </p:nvSpPr>
        <p:spPr>
          <a:xfrm>
            <a:off x="8339327" y="3922776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49640" y="3849624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Micrófonos lavalier, trípode articulado</a:t>
            </a:r>
          </a:p>
        </p:txBody>
      </p:sp>
      <p:sp>
        <p:nvSpPr>
          <p:cNvPr id="36" name="Oval 35"/>
          <p:cNvSpPr/>
          <p:nvPr/>
        </p:nvSpPr>
        <p:spPr>
          <a:xfrm>
            <a:off x="8339327" y="4581144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49640" y="4507992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iPad con Apple Pencil para bocetaje</a:t>
            </a:r>
          </a:p>
        </p:txBody>
      </p:sp>
      <p:sp>
        <p:nvSpPr>
          <p:cNvPr id="38" name="Oval 37"/>
          <p:cNvSpPr/>
          <p:nvPr/>
        </p:nvSpPr>
        <p:spPr>
          <a:xfrm>
            <a:off x="8339327" y="5239512"/>
            <a:ext cx="91440" cy="91440"/>
          </a:xfrm>
          <a:prstGeom prst="ellipse">
            <a:avLst/>
          </a:prstGeom>
          <a:solidFill>
            <a:srgbClr val="1F6B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49640" y="5166359"/>
            <a:ext cx="2880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0">
                <a:solidFill>
                  <a:srgbClr val="171411"/>
                </a:solidFill>
                <a:latin typeface="Montserrat Medium"/>
                <a:ea typeface="Montserrat Medium"/>
                <a:cs typeface="Montserrat Medium"/>
              </a:rPr>
              <a:t>Baterías extra, power bank y audífonos</a:t>
            </a:r>
          </a:p>
        </p:txBody>
      </p:sp>
      <p:pic>
        <p:nvPicPr>
          <p:cNvPr id="40" name="Picture 3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336792"/>
            <a:ext cx="420624" cy="36576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1143000" y="64008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171411"/>
                </a:solidFill>
                <a:latin typeface="Montserrat SemiBold"/>
                <a:ea typeface="Montserrat SemiBold"/>
                <a:cs typeface="Montserrat SemiBold"/>
              </a:rPr>
              <a:t>viqpgz@gmail.com   ·   55 6659 7811   ·   @viccio____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716</TotalTime>
  <Words>2102</Words>
  <Application>Microsoft Macintosh PowerPoint</Application>
  <PresentationFormat>Widescreen</PresentationFormat>
  <Paragraphs>123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Montserrat</vt:lpstr>
      <vt:lpstr>Montserrat Black</vt:lpstr>
      <vt:lpstr>Montserrat ExtraBold</vt:lpstr>
      <vt:lpstr>Montserrat Medium</vt:lpstr>
      <vt:lpstr>Montserrat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Muralitos Puesteros — Propuesta para Artbank Magazine</dc:title>
  <dc:subject>PptxGenJS Presentation</dc:subject>
  <dc:creator>Viccio — Víctor Palacio</dc:creator>
  <cp:lastModifiedBy>Victor M Palacio Pastrana</cp:lastModifiedBy>
  <cp:revision>5</cp:revision>
  <dcterms:created xsi:type="dcterms:W3CDTF">2026-09-25T19:29:10Z</dcterms:created>
  <dcterms:modified xsi:type="dcterms:W3CDTF">2026-09-30T21:39:55Z</dcterms:modified>
</cp:coreProperties>
</file>